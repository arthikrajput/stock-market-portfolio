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m4a" ContentType="audi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8288000" cy="10287000"/>
  <p:notesSz cx="6858000" cy="9144000"/>
  <p:embeddedFontLst>
    <p:embeddedFont>
      <p:font typeface="Alegreya Sans Medium" panose="020B0604020202020204" charset="0"/>
      <p:regular r:id="rId15"/>
      <p:bold r:id="rId16"/>
      <p:italic r:id="rId17"/>
      <p:boldItalic r:id="rId18"/>
    </p:embeddedFont>
    <p:embeddedFont>
      <p:font typeface="Montserrat" panose="00000500000000000000" pitchFamily="2" charset="0"/>
      <p:regular r:id="rId19"/>
      <p:bold r:id="rId20"/>
      <p:italic r:id="rId21"/>
      <p:boldItalic r:id="rId22"/>
    </p:embeddedFont>
    <p:embeddedFont>
      <p:font typeface="Montserrat Black" panose="00000A00000000000000" pitchFamily="2" charset="0"/>
      <p:bold r:id="rId23"/>
      <p:boldItalic r:id="rId24"/>
    </p:embeddedFont>
    <p:embeddedFont>
      <p:font typeface="Montserrat ExtraBold" panose="00000900000000000000" pitchFamily="2" charset="0"/>
      <p:bold r:id="rId25"/>
      <p:boldItalic r:id="rId26"/>
    </p:embeddedFont>
    <p:embeddedFont>
      <p:font typeface="Montserrat Medium" panose="00000600000000000000" pitchFamily="2" charset="0"/>
      <p:regular r:id="rId27"/>
      <p:bold r:id="rId28"/>
      <p:italic r:id="rId29"/>
      <p:boldItalic r:id="rId30"/>
    </p:embeddedFont>
    <p:embeddedFont>
      <p:font typeface="Montserrat SemiBold" panose="00000700000000000000" pitchFamily="2" charset="0"/>
      <p:regular r:id="rId31"/>
      <p:bold r:id="rId32"/>
      <p:italic r:id="rId33"/>
      <p:boldItalic r:id="rId3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864">
          <p15:clr>
            <a:srgbClr val="000000"/>
          </p15:clr>
        </p15:guide>
        <p15:guide id="2" pos="864">
          <p15:clr>
            <a:srgbClr val="9AA0A6"/>
          </p15:clr>
        </p15:guide>
        <p15:guide id="3" pos="10656">
          <p15:clr>
            <a:srgbClr val="9AA0A6"/>
          </p15:clr>
        </p15:guide>
        <p15:guide id="4" orient="horz" pos="5616">
          <p15:clr>
            <a:srgbClr val="9AA0A6"/>
          </p15:clr>
        </p15:guide>
        <p15:guide id="5" pos="5760">
          <p15:clr>
            <a:srgbClr val="9AA0A6"/>
          </p15:clr>
        </p15:guide>
        <p15:guide id="6" orient="horz" pos="3171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 useTimings="0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2" d="100"/>
          <a:sy n="52" d="100"/>
        </p:scale>
        <p:origin x="850" y="62"/>
      </p:cViewPr>
      <p:guideLst>
        <p:guide orient="horz" pos="864"/>
        <p:guide pos="864"/>
        <p:guide pos="10656"/>
        <p:guide orient="horz" pos="5616"/>
        <p:guide pos="5760"/>
        <p:guide orient="horz" pos="317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font" Target="fonts/font12.fntdata"/><Relationship Id="rId21" Type="http://schemas.openxmlformats.org/officeDocument/2006/relationships/font" Target="fonts/font7.fntdata"/><Relationship Id="rId34" Type="http://schemas.openxmlformats.org/officeDocument/2006/relationships/font" Target="fonts/font20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font" Target="fonts/font11.fntdata"/><Relationship Id="rId33" Type="http://schemas.openxmlformats.org/officeDocument/2006/relationships/font" Target="fonts/font19.fntdata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29" Type="http://schemas.openxmlformats.org/officeDocument/2006/relationships/font" Target="fonts/font1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0.fntdata"/><Relationship Id="rId32" Type="http://schemas.openxmlformats.org/officeDocument/2006/relationships/font" Target="fonts/font18.fntdata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font" Target="fonts/font14.fntdata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31" Type="http://schemas.openxmlformats.org/officeDocument/2006/relationships/font" Target="fonts/font1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font" Target="fonts/font13.fntdata"/><Relationship Id="rId30" Type="http://schemas.openxmlformats.org/officeDocument/2006/relationships/font" Target="fonts/font16.fntdata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3" name="Google Shape;9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211c191c00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4" name="Google Shape;104;g3211c191c00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211c191c00_0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6" name="Google Shape;116;g3211c191c00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211c191c00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7" name="Google Shape;127;g3211c191c00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211c191c00_0_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2" name="Google Shape;142;g3211c191c00_0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211c191c00_0_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54" name="Google Shape;154;g3211c191c00_0_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24db2db373_0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6" name="Google Shape;166;g324db2db373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24db2db373_0_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8" name="Google Shape;178;g324db2db373_0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24db2db373_0_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90" name="Google Shape;190;g324db2db373_0_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24db2db373_0_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02" name="Google Shape;202;g324db2db373_0_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14" name="Google Shape;214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3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2.m4a"/><Relationship Id="rId1" Type="http://schemas.microsoft.com/office/2007/relationships/media" Target="../media/media2.m4a"/><Relationship Id="rId6" Type="http://schemas.openxmlformats.org/officeDocument/2006/relationships/image" Target="../media/image3.png"/><Relationship Id="rId5" Type="http://schemas.openxmlformats.org/officeDocument/2006/relationships/image" Target="../media/image4.jpg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3.m4a"/><Relationship Id="rId1" Type="http://schemas.microsoft.com/office/2007/relationships/media" Target="../media/media3.m4a"/><Relationship Id="rId6" Type="http://schemas.openxmlformats.org/officeDocument/2006/relationships/image" Target="../media/image3.png"/><Relationship Id="rId5" Type="http://schemas.openxmlformats.org/officeDocument/2006/relationships/image" Target="../media/image5.png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4.m4a"/><Relationship Id="rId1" Type="http://schemas.microsoft.com/office/2007/relationships/media" Target="../media/media4.m4a"/><Relationship Id="rId6" Type="http://schemas.openxmlformats.org/officeDocument/2006/relationships/image" Target="../media/image3.png"/><Relationship Id="rId5" Type="http://schemas.openxmlformats.org/officeDocument/2006/relationships/image" Target="../media/image6.jpg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jpg"/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9.jpg"/><Relationship Id="rId2" Type="http://schemas.openxmlformats.org/officeDocument/2006/relationships/audio" Target="../media/media5.m4a"/><Relationship Id="rId1" Type="http://schemas.microsoft.com/office/2007/relationships/media" Target="../media/media5.m4a"/><Relationship Id="rId6" Type="http://schemas.openxmlformats.org/officeDocument/2006/relationships/image" Target="../media/image8.jpg"/><Relationship Id="rId5" Type="http://schemas.openxmlformats.org/officeDocument/2006/relationships/image" Target="../media/image7.jpg"/><Relationship Id="rId4" Type="http://schemas.openxmlformats.org/officeDocument/2006/relationships/notesSlide" Target="../notesSlides/notesSlide5.xml"/><Relationship Id="rId9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3.png"/><Relationship Id="rId2" Type="http://schemas.openxmlformats.org/officeDocument/2006/relationships/audio" Target="../media/media6.m4a"/><Relationship Id="rId1" Type="http://schemas.microsoft.com/office/2007/relationships/media" Target="../media/media6.m4a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7.m4a"/><Relationship Id="rId1" Type="http://schemas.microsoft.com/office/2007/relationships/media" Target="../media/media7.m4a"/><Relationship Id="rId6" Type="http://schemas.openxmlformats.org/officeDocument/2006/relationships/image" Target="../media/image3.png"/><Relationship Id="rId5" Type="http://schemas.openxmlformats.org/officeDocument/2006/relationships/image" Target="../media/image13.png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8.m4a"/><Relationship Id="rId1" Type="http://schemas.microsoft.com/office/2007/relationships/media" Target="../media/media8.m4a"/><Relationship Id="rId6" Type="http://schemas.openxmlformats.org/officeDocument/2006/relationships/image" Target="../media/image3.png"/><Relationship Id="rId5" Type="http://schemas.openxmlformats.org/officeDocument/2006/relationships/image" Target="../media/image14.png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9.m4a"/><Relationship Id="rId1" Type="http://schemas.microsoft.com/office/2007/relationships/media" Target="../media/media9.m4a"/><Relationship Id="rId6" Type="http://schemas.openxmlformats.org/officeDocument/2006/relationships/image" Target="../media/image3.png"/><Relationship Id="rId5" Type="http://schemas.openxmlformats.org/officeDocument/2006/relationships/image" Target="../media/image15.png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3.png"/><Relationship Id="rId2" Type="http://schemas.openxmlformats.org/officeDocument/2006/relationships/audio" Target="../media/media10.m4a"/><Relationship Id="rId1" Type="http://schemas.microsoft.com/office/2007/relationships/media" Target="../media/media10.m4a"/><Relationship Id="rId6" Type="http://schemas.openxmlformats.org/officeDocument/2006/relationships/image" Target="../media/image17.jpg"/><Relationship Id="rId5" Type="http://schemas.openxmlformats.org/officeDocument/2006/relationships/image" Target="../media/image16.jpg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1.m4a"/><Relationship Id="rId1" Type="http://schemas.microsoft.com/office/2007/relationships/media" Target="../media/media11.m4a"/><Relationship Id="rId6" Type="http://schemas.openxmlformats.org/officeDocument/2006/relationships/image" Target="../media/image3.png"/><Relationship Id="rId5" Type="http://schemas.openxmlformats.org/officeDocument/2006/relationships/image" Target="../media/image18.jpg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2.m4a"/><Relationship Id="rId1" Type="http://schemas.microsoft.com/office/2007/relationships/media" Target="../media/media12.m4a"/><Relationship Id="rId5" Type="http://schemas.openxmlformats.org/officeDocument/2006/relationships/image" Target="../media/image3.png"/><Relationship Id="rId4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/>
        </p:nvSpPr>
        <p:spPr>
          <a:xfrm>
            <a:off x="1371594" y="3537125"/>
            <a:ext cx="15544800" cy="723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99"/>
              <a:buFont typeface="Arial"/>
              <a:buNone/>
            </a:pPr>
            <a:r>
              <a:rPr lang="en-US" sz="4700" b="1">
                <a:latin typeface="Montserrat"/>
                <a:ea typeface="Montserrat"/>
                <a:cs typeface="Montserrat"/>
                <a:sym typeface="Montserrat"/>
              </a:rPr>
              <a:t>INNOVERSITE - THE UNIVERSE OF INNOVATION</a:t>
            </a:r>
            <a:endParaRPr sz="4700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85" name="Google Shape;85;p13"/>
          <p:cNvCxnSpPr/>
          <p:nvPr/>
        </p:nvCxnSpPr>
        <p:spPr>
          <a:xfrm>
            <a:off x="1371596" y="4260413"/>
            <a:ext cx="12966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6" name="Google Shape;86;p13"/>
          <p:cNvSpPr txBox="1"/>
          <p:nvPr/>
        </p:nvSpPr>
        <p:spPr>
          <a:xfrm>
            <a:off x="13916705" y="8207693"/>
            <a:ext cx="29997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1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99"/>
              <a:buFont typeface="Arial"/>
              <a:buNone/>
            </a:pPr>
            <a:endParaRPr sz="1999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912000" y="7206525"/>
            <a:ext cx="16464000" cy="1841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1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99"/>
              <a:buFont typeface="Arial"/>
              <a:buNone/>
            </a:pPr>
            <a:r>
              <a:rPr lang="en-US" sz="2600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SUBMITTED BY-</a:t>
            </a:r>
            <a:endParaRPr sz="2600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2001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99"/>
              <a:buFont typeface="Arial"/>
              <a:buNone/>
            </a:pPr>
            <a:r>
              <a:rPr lang="en-US" sz="2600">
                <a:latin typeface="Montserrat"/>
                <a:ea typeface="Montserrat"/>
                <a:cs typeface="Montserrat"/>
                <a:sym typeface="Montserrat"/>
              </a:rPr>
              <a:t>Aarthik Kandoliya, Ancita Mendonca , Aryaman Singh, Ayan Bhaskar, Garima Gupta, Shobhit Maitrey</a:t>
            </a:r>
            <a:endParaRPr sz="26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2001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99"/>
              <a:buFont typeface="Arial"/>
              <a:buNone/>
            </a:pPr>
            <a:r>
              <a:rPr lang="en-US" sz="2600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MENTOR-</a:t>
            </a:r>
            <a:endParaRPr sz="2600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2001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99"/>
              <a:buFont typeface="Arial"/>
              <a:buNone/>
            </a:pPr>
            <a:r>
              <a:rPr lang="en-US" sz="26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Mr. </a:t>
            </a:r>
            <a:r>
              <a:rPr lang="en-US" sz="2600">
                <a:latin typeface="Montserrat"/>
                <a:ea typeface="Montserrat"/>
                <a:cs typeface="Montserrat"/>
                <a:sym typeface="Montserrat"/>
              </a:rPr>
              <a:t>Saurabh and Mr. Ankit</a:t>
            </a:r>
            <a:endParaRPr sz="26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1371600" y="5496125"/>
            <a:ext cx="16101900" cy="1369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0"/>
              <a:buFont typeface="Arial"/>
              <a:buNone/>
            </a:pPr>
            <a:r>
              <a:rPr lang="en-US" sz="8900">
                <a:latin typeface="Montserrat Black"/>
                <a:ea typeface="Montserrat Black"/>
                <a:cs typeface="Montserrat Black"/>
                <a:sym typeface="Montserrat Black"/>
              </a:rPr>
              <a:t>Financial Dashboards</a:t>
            </a:r>
            <a:endParaRPr sz="8900" b="0" i="0" u="none" strike="noStrike" cap="none">
              <a:solidFill>
                <a:srgbClr val="000000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sp>
        <p:nvSpPr>
          <p:cNvPr id="89" name="Google Shape;89;p13"/>
          <p:cNvSpPr txBox="1"/>
          <p:nvPr/>
        </p:nvSpPr>
        <p:spPr>
          <a:xfrm>
            <a:off x="6161250" y="4416563"/>
            <a:ext cx="5965500" cy="923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11-01-2025 - 12-01-2025</a:t>
            </a:r>
            <a:endParaRPr sz="32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pic>
        <p:nvPicPr>
          <p:cNvPr id="90" name="Google Shape;90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21875" y="301225"/>
            <a:ext cx="11044255" cy="2868918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Audio 4">
            <a:hlinkClick r:id="" action="ppaction://media"/>
            <a:extLst>
              <a:ext uri="{FF2B5EF4-FFF2-40B4-BE49-F238E27FC236}">
                <a16:creationId xmlns:a16="http://schemas.microsoft.com/office/drawing/2014/main" id="{20705CF5-98E1-19A1-A337-DDA555C2F40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rcRect l="-266613" t="-266613" r="-266613" b="-266613"/>
          <a:stretch>
            <a:fillRect/>
          </a:stretch>
        </p:blipFill>
        <p:spPr>
          <a:xfrm>
            <a:off x="15078456" y="7077456"/>
            <a:ext cx="3086100" cy="3086100"/>
          </a:xfrm>
          <a:prstGeom prst="ellipse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326"/>
    </mc:Choice>
    <mc:Fallback xmlns="">
      <p:transition spd="slow" advTm="732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5" name="Google Shape;95;p14"/>
          <p:cNvCxnSpPr/>
          <p:nvPr/>
        </p:nvCxnSpPr>
        <p:spPr>
          <a:xfrm rot="-5400000">
            <a:off x="11772900" y="5143438"/>
            <a:ext cx="10287000" cy="0"/>
          </a:xfrm>
          <a:prstGeom prst="straightConnector1">
            <a:avLst/>
          </a:prstGeom>
          <a:noFill/>
          <a:ln w="28575" cap="flat" cmpd="sng">
            <a:solidFill>
              <a:srgbClr val="CFC9B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96" name="Google Shape;96;p14"/>
          <p:cNvSpPr txBox="1"/>
          <p:nvPr/>
        </p:nvSpPr>
        <p:spPr>
          <a:xfrm>
            <a:off x="1371600" y="654301"/>
            <a:ext cx="15544800" cy="8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0"/>
              <a:buFont typeface="Arial"/>
              <a:buNone/>
            </a:pPr>
            <a:r>
              <a:rPr lang="en-US" sz="5500">
                <a:latin typeface="Montserrat ExtraBold"/>
                <a:ea typeface="Montserrat ExtraBold"/>
                <a:cs typeface="Montserrat ExtraBold"/>
                <a:sym typeface="Montserrat ExtraBold"/>
              </a:rPr>
              <a:t>Structure Flow</a:t>
            </a:r>
            <a:endParaRPr sz="5500" b="0" i="0" u="none" strike="noStrike" cap="none">
              <a:solidFill>
                <a:srgbClr val="000000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cxnSp>
        <p:nvCxnSpPr>
          <p:cNvPr id="97" name="Google Shape;97;p14"/>
          <p:cNvCxnSpPr/>
          <p:nvPr/>
        </p:nvCxnSpPr>
        <p:spPr>
          <a:xfrm>
            <a:off x="1371596" y="1519238"/>
            <a:ext cx="12966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98" name="Google Shape;98;p14"/>
          <p:cNvSpPr txBox="1"/>
          <p:nvPr/>
        </p:nvSpPr>
        <p:spPr>
          <a:xfrm>
            <a:off x="16908675" y="9459600"/>
            <a:ext cx="13776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2</a:t>
            </a:r>
            <a:endParaRPr sz="1800" b="0" i="0" u="none" strike="noStrike" cap="none">
              <a:solidFill>
                <a:srgbClr val="000000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99" name="Google Shape;99;p14"/>
          <p:cNvSpPr txBox="1"/>
          <p:nvPr/>
        </p:nvSpPr>
        <p:spPr>
          <a:xfrm rot="5400000">
            <a:off x="13469925" y="4643250"/>
            <a:ext cx="82551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Alegreya Sans Medium"/>
                <a:ea typeface="Alegreya Sans Medium"/>
                <a:cs typeface="Alegreya Sans Medium"/>
                <a:sym typeface="Alegreya Sans Medium"/>
              </a:rPr>
              <a:t>Innoversite - The Universe  Of Innovation</a:t>
            </a:r>
            <a:endParaRPr sz="1800" b="0" i="0" u="none" strike="noStrike" cap="none">
              <a:solidFill>
                <a:srgbClr val="000000"/>
              </a:solidFill>
              <a:latin typeface="Alegreya Sans Medium"/>
              <a:ea typeface="Alegreya Sans Medium"/>
              <a:cs typeface="Alegreya Sans Medium"/>
              <a:sym typeface="Alegreya Sans Medium"/>
            </a:endParaRPr>
          </a:p>
        </p:txBody>
      </p:sp>
      <p:sp>
        <p:nvSpPr>
          <p:cNvPr id="100" name="Google Shape;100;p14"/>
          <p:cNvSpPr txBox="1"/>
          <p:nvPr/>
        </p:nvSpPr>
        <p:spPr>
          <a:xfrm>
            <a:off x="10620500" y="8711400"/>
            <a:ext cx="4767900" cy="4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2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pic>
        <p:nvPicPr>
          <p:cNvPr id="101" name="Google Shape;101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371600" y="2545775"/>
            <a:ext cx="14247950" cy="5355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Audio 6">
            <a:hlinkClick r:id="" action="ppaction://media"/>
            <a:extLst>
              <a:ext uri="{FF2B5EF4-FFF2-40B4-BE49-F238E27FC236}">
                <a16:creationId xmlns:a16="http://schemas.microsoft.com/office/drawing/2014/main" id="{4247724B-ED47-11C8-CA69-32C5FB23787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rcRect l="-266613" t="-266613" r="-266613" b="-266613"/>
          <a:stretch>
            <a:fillRect/>
          </a:stretch>
        </p:blipFill>
        <p:spPr>
          <a:xfrm>
            <a:off x="15078456" y="7077456"/>
            <a:ext cx="3086100" cy="3086100"/>
          </a:xfrm>
          <a:prstGeom prst="ellipse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553"/>
    </mc:Choice>
    <mc:Fallback xmlns="">
      <p:transition spd="slow" advTm="655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5"/>
          <p:cNvSpPr txBox="1"/>
          <p:nvPr/>
        </p:nvSpPr>
        <p:spPr>
          <a:xfrm>
            <a:off x="1371600" y="2270575"/>
            <a:ext cx="7748700" cy="81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45720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cxnSp>
        <p:nvCxnSpPr>
          <p:cNvPr id="107" name="Google Shape;107;p15"/>
          <p:cNvCxnSpPr/>
          <p:nvPr/>
        </p:nvCxnSpPr>
        <p:spPr>
          <a:xfrm rot="-5400000">
            <a:off x="11772900" y="5143438"/>
            <a:ext cx="10287000" cy="0"/>
          </a:xfrm>
          <a:prstGeom prst="straightConnector1">
            <a:avLst/>
          </a:prstGeom>
          <a:noFill/>
          <a:ln w="28575" cap="flat" cmpd="sng">
            <a:solidFill>
              <a:srgbClr val="CFC9B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08" name="Google Shape;108;p15"/>
          <p:cNvSpPr txBox="1"/>
          <p:nvPr/>
        </p:nvSpPr>
        <p:spPr>
          <a:xfrm>
            <a:off x="1371600" y="654301"/>
            <a:ext cx="15544800" cy="8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0"/>
              <a:buFont typeface="Arial"/>
              <a:buNone/>
            </a:pPr>
            <a:r>
              <a:rPr lang="en-US" sz="5500">
                <a:latin typeface="Montserrat ExtraBold"/>
                <a:ea typeface="Montserrat ExtraBold"/>
                <a:cs typeface="Montserrat ExtraBold"/>
                <a:sym typeface="Montserrat ExtraBold"/>
              </a:rPr>
              <a:t>Gross Profit &amp; Volatility Analysis</a:t>
            </a:r>
            <a:endParaRPr sz="5500" b="0" i="0" u="none" strike="noStrike" cap="none">
              <a:solidFill>
                <a:srgbClr val="000000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cxnSp>
        <p:nvCxnSpPr>
          <p:cNvPr id="109" name="Google Shape;109;p15"/>
          <p:cNvCxnSpPr/>
          <p:nvPr/>
        </p:nvCxnSpPr>
        <p:spPr>
          <a:xfrm>
            <a:off x="1371596" y="1519238"/>
            <a:ext cx="12966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0" name="Google Shape;110;p15"/>
          <p:cNvSpPr txBox="1"/>
          <p:nvPr/>
        </p:nvSpPr>
        <p:spPr>
          <a:xfrm>
            <a:off x="16908675" y="9459600"/>
            <a:ext cx="13776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>
                <a:latin typeface="Montserrat ExtraBold"/>
                <a:ea typeface="Montserrat ExtraBold"/>
                <a:cs typeface="Montserrat ExtraBold"/>
                <a:sym typeface="Montserrat ExtraBold"/>
              </a:rPr>
              <a:t>3</a:t>
            </a:r>
            <a:endParaRPr sz="1800" b="0" i="0" u="none" strike="noStrike" cap="none">
              <a:solidFill>
                <a:srgbClr val="000000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111" name="Google Shape;111;p15"/>
          <p:cNvSpPr txBox="1"/>
          <p:nvPr/>
        </p:nvSpPr>
        <p:spPr>
          <a:xfrm rot="5400000">
            <a:off x="13469925" y="4643250"/>
            <a:ext cx="82551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Alegreya Sans Medium"/>
                <a:ea typeface="Alegreya Sans Medium"/>
                <a:cs typeface="Alegreya Sans Medium"/>
                <a:sym typeface="Alegreya Sans Medium"/>
              </a:rPr>
              <a:t>Innoversite - The Universe  Of Innovation</a:t>
            </a:r>
            <a:endParaRPr sz="1800">
              <a:solidFill>
                <a:schemeClr val="dk1"/>
              </a:solidFill>
              <a:latin typeface="Alegreya Sans Medium"/>
              <a:ea typeface="Alegreya Sans Medium"/>
              <a:cs typeface="Alegreya Sans Medium"/>
              <a:sym typeface="Alegreya Sans Medium"/>
            </a:endParaRPr>
          </a:p>
        </p:txBody>
      </p:sp>
      <p:pic>
        <p:nvPicPr>
          <p:cNvPr id="112" name="Google Shape;112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86550" y="1792463"/>
            <a:ext cx="15752499" cy="6702076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5"/>
          <p:cNvSpPr txBox="1"/>
          <p:nvPr/>
        </p:nvSpPr>
        <p:spPr>
          <a:xfrm>
            <a:off x="786550" y="8640900"/>
            <a:ext cx="15266100" cy="54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 dirty="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Calculated the volatility assuming that there are 250 trading days.</a:t>
            </a:r>
            <a:endParaRPr sz="3400" dirty="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pic>
        <p:nvPicPr>
          <p:cNvPr id="5" name="Audio 4">
            <a:hlinkClick r:id="" action="ppaction://media"/>
            <a:extLst>
              <a:ext uri="{FF2B5EF4-FFF2-40B4-BE49-F238E27FC236}">
                <a16:creationId xmlns:a16="http://schemas.microsoft.com/office/drawing/2014/main" id="{54D952CD-63FD-51B5-B765-DD1DE66A71CB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rcRect l="-266613" t="-266613" r="-266613" b="-266613"/>
          <a:stretch>
            <a:fillRect/>
          </a:stretch>
        </p:blipFill>
        <p:spPr>
          <a:xfrm>
            <a:off x="15078456" y="7077456"/>
            <a:ext cx="3086100" cy="3086100"/>
          </a:xfrm>
          <a:prstGeom prst="ellipse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768"/>
    </mc:Choice>
    <mc:Fallback xmlns="">
      <p:transition spd="slow" advTm="576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6"/>
          <p:cNvSpPr txBox="1"/>
          <p:nvPr/>
        </p:nvSpPr>
        <p:spPr>
          <a:xfrm>
            <a:off x="1371600" y="2270575"/>
            <a:ext cx="7748700" cy="125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91440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45720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45720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cxnSp>
        <p:nvCxnSpPr>
          <p:cNvPr id="119" name="Google Shape;119;p16"/>
          <p:cNvCxnSpPr/>
          <p:nvPr/>
        </p:nvCxnSpPr>
        <p:spPr>
          <a:xfrm rot="-5400000">
            <a:off x="11772900" y="5143438"/>
            <a:ext cx="10287000" cy="0"/>
          </a:xfrm>
          <a:prstGeom prst="straightConnector1">
            <a:avLst/>
          </a:prstGeom>
          <a:noFill/>
          <a:ln w="28575" cap="flat" cmpd="sng">
            <a:solidFill>
              <a:srgbClr val="CFC9B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20" name="Google Shape;120;p16"/>
          <p:cNvSpPr txBox="1"/>
          <p:nvPr/>
        </p:nvSpPr>
        <p:spPr>
          <a:xfrm>
            <a:off x="1371600" y="654301"/>
            <a:ext cx="15544800" cy="8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0"/>
              <a:buFont typeface="Arial"/>
              <a:buNone/>
            </a:pPr>
            <a:r>
              <a:rPr lang="en-US" sz="5500">
                <a:latin typeface="Montserrat ExtraBold"/>
                <a:ea typeface="Montserrat ExtraBold"/>
                <a:cs typeface="Montserrat ExtraBold"/>
                <a:sym typeface="Montserrat ExtraBold"/>
              </a:rPr>
              <a:t>Portfolio Dashboard</a:t>
            </a:r>
            <a:endParaRPr sz="5500" b="0" i="0" u="none" strike="noStrike" cap="none">
              <a:solidFill>
                <a:srgbClr val="000000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cxnSp>
        <p:nvCxnSpPr>
          <p:cNvPr id="121" name="Google Shape;121;p16"/>
          <p:cNvCxnSpPr/>
          <p:nvPr/>
        </p:nvCxnSpPr>
        <p:spPr>
          <a:xfrm>
            <a:off x="1371596" y="1519238"/>
            <a:ext cx="12966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22" name="Google Shape;122;p16"/>
          <p:cNvSpPr txBox="1"/>
          <p:nvPr/>
        </p:nvSpPr>
        <p:spPr>
          <a:xfrm>
            <a:off x="16908675" y="9459600"/>
            <a:ext cx="13776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>
                <a:latin typeface="Montserrat ExtraBold"/>
                <a:ea typeface="Montserrat ExtraBold"/>
                <a:cs typeface="Montserrat ExtraBold"/>
                <a:sym typeface="Montserrat ExtraBold"/>
              </a:rPr>
              <a:t>4</a:t>
            </a:r>
            <a:endParaRPr sz="1800" b="0" i="0" u="none" strike="noStrike" cap="none">
              <a:solidFill>
                <a:srgbClr val="000000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123" name="Google Shape;123;p16"/>
          <p:cNvSpPr txBox="1"/>
          <p:nvPr/>
        </p:nvSpPr>
        <p:spPr>
          <a:xfrm rot="5400000">
            <a:off x="13469925" y="4643250"/>
            <a:ext cx="82551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Alegreya Sans Medium"/>
                <a:ea typeface="Alegreya Sans Medium"/>
                <a:cs typeface="Alegreya Sans Medium"/>
                <a:sym typeface="Alegreya Sans Medium"/>
              </a:rPr>
              <a:t>Innoversite - The Universe  Of Innovation</a:t>
            </a:r>
            <a:endParaRPr sz="1800">
              <a:solidFill>
                <a:schemeClr val="dk1"/>
              </a:solidFill>
              <a:latin typeface="Alegreya Sans Medium"/>
              <a:ea typeface="Alegreya Sans Medium"/>
              <a:cs typeface="Alegreya Sans Medium"/>
              <a:sym typeface="Alegreya Sans Medium"/>
            </a:endParaRPr>
          </a:p>
        </p:txBody>
      </p:sp>
      <p:pic>
        <p:nvPicPr>
          <p:cNvPr id="124" name="Google Shape;124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371600" y="2100275"/>
            <a:ext cx="14834726" cy="7139224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Audio 3">
            <a:hlinkClick r:id="" action="ppaction://media"/>
            <a:extLst>
              <a:ext uri="{FF2B5EF4-FFF2-40B4-BE49-F238E27FC236}">
                <a16:creationId xmlns:a16="http://schemas.microsoft.com/office/drawing/2014/main" id="{25120777-70FA-96B3-2EEC-6AECDBC775D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rcRect l="-266613" t="-266613" r="-266613" b="-266613"/>
          <a:stretch>
            <a:fillRect/>
          </a:stretch>
        </p:blipFill>
        <p:spPr>
          <a:xfrm>
            <a:off x="15078456" y="7077456"/>
            <a:ext cx="3086100" cy="3086100"/>
          </a:xfrm>
          <a:prstGeom prst="ellipse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972"/>
    </mc:Choice>
    <mc:Fallback xmlns="">
      <p:transition spd="slow" advTm="297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7"/>
          <p:cNvSpPr txBox="1"/>
          <p:nvPr/>
        </p:nvSpPr>
        <p:spPr>
          <a:xfrm>
            <a:off x="1371600" y="2270575"/>
            <a:ext cx="7748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cxnSp>
        <p:nvCxnSpPr>
          <p:cNvPr id="130" name="Google Shape;130;p17"/>
          <p:cNvCxnSpPr/>
          <p:nvPr/>
        </p:nvCxnSpPr>
        <p:spPr>
          <a:xfrm rot="-5400000">
            <a:off x="11772900" y="5143438"/>
            <a:ext cx="10287000" cy="0"/>
          </a:xfrm>
          <a:prstGeom prst="straightConnector1">
            <a:avLst/>
          </a:prstGeom>
          <a:noFill/>
          <a:ln w="28575" cap="flat" cmpd="sng">
            <a:solidFill>
              <a:srgbClr val="CFC9B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1" name="Google Shape;131;p17"/>
          <p:cNvSpPr txBox="1"/>
          <p:nvPr/>
        </p:nvSpPr>
        <p:spPr>
          <a:xfrm>
            <a:off x="1371600" y="654301"/>
            <a:ext cx="15544800" cy="8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0"/>
              <a:buFont typeface="Arial"/>
              <a:buNone/>
            </a:pPr>
            <a:r>
              <a:rPr lang="en-US" sz="5500">
                <a:latin typeface="Montserrat ExtraBold"/>
                <a:ea typeface="Montserrat ExtraBold"/>
                <a:cs typeface="Montserrat ExtraBold"/>
                <a:sym typeface="Montserrat ExtraBold"/>
              </a:rPr>
              <a:t>Heatmap</a:t>
            </a:r>
            <a:endParaRPr sz="5500" b="0" i="0" u="none" strike="noStrike" cap="none">
              <a:solidFill>
                <a:srgbClr val="000000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cxnSp>
        <p:nvCxnSpPr>
          <p:cNvPr id="132" name="Google Shape;132;p17"/>
          <p:cNvCxnSpPr/>
          <p:nvPr/>
        </p:nvCxnSpPr>
        <p:spPr>
          <a:xfrm>
            <a:off x="1371596" y="1519238"/>
            <a:ext cx="12966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3" name="Google Shape;133;p17"/>
          <p:cNvSpPr txBox="1"/>
          <p:nvPr/>
        </p:nvSpPr>
        <p:spPr>
          <a:xfrm>
            <a:off x="16908675" y="9459600"/>
            <a:ext cx="13776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>
                <a:latin typeface="Montserrat ExtraBold"/>
                <a:ea typeface="Montserrat ExtraBold"/>
                <a:cs typeface="Montserrat ExtraBold"/>
                <a:sym typeface="Montserrat ExtraBold"/>
              </a:rPr>
              <a:t>5</a:t>
            </a:r>
            <a:endParaRPr sz="1800" b="0" i="0" u="none" strike="noStrike" cap="none">
              <a:solidFill>
                <a:srgbClr val="000000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134" name="Google Shape;134;p17"/>
          <p:cNvSpPr txBox="1"/>
          <p:nvPr/>
        </p:nvSpPr>
        <p:spPr>
          <a:xfrm rot="5400000">
            <a:off x="13469925" y="4643250"/>
            <a:ext cx="82551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Alegreya Sans Medium"/>
                <a:ea typeface="Alegreya Sans Medium"/>
                <a:cs typeface="Alegreya Sans Medium"/>
                <a:sym typeface="Alegreya Sans Medium"/>
              </a:rPr>
              <a:t>Innoversite - The Universe  Of Innovation</a:t>
            </a:r>
            <a:endParaRPr sz="1800">
              <a:solidFill>
                <a:schemeClr val="dk1"/>
              </a:solidFill>
              <a:latin typeface="Alegreya Sans Medium"/>
              <a:ea typeface="Alegreya Sans Medium"/>
              <a:cs typeface="Alegreya Sans Medium"/>
              <a:sym typeface="Alegreya Sans Medium"/>
            </a:endParaRPr>
          </a:p>
        </p:txBody>
      </p:sp>
      <p:pic>
        <p:nvPicPr>
          <p:cNvPr id="135" name="Google Shape;135;p17"/>
          <p:cNvPicPr preferRelativeResize="0"/>
          <p:nvPr/>
        </p:nvPicPr>
        <p:blipFill rotWithShape="1">
          <a:blip r:embed="rId5">
            <a:alphaModFix/>
          </a:blip>
          <a:srcRect l="4164" t="5915" r="3079" b="8350"/>
          <a:stretch/>
        </p:blipFill>
        <p:spPr>
          <a:xfrm>
            <a:off x="1694950" y="5839088"/>
            <a:ext cx="4603325" cy="3273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17"/>
          <p:cNvPicPr preferRelativeResize="0"/>
          <p:nvPr/>
        </p:nvPicPr>
        <p:blipFill rotWithShape="1">
          <a:blip r:embed="rId6">
            <a:alphaModFix/>
          </a:blip>
          <a:srcRect t="7913" r="3241" b="8606"/>
          <a:stretch/>
        </p:blipFill>
        <p:spPr>
          <a:xfrm>
            <a:off x="6064925" y="2381500"/>
            <a:ext cx="4603325" cy="3457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17"/>
          <p:cNvPicPr preferRelativeResize="0"/>
          <p:nvPr/>
        </p:nvPicPr>
        <p:blipFill rotWithShape="1">
          <a:blip r:embed="rId7">
            <a:alphaModFix/>
          </a:blip>
          <a:srcRect l="4165" t="7497" r="3070" b="8729"/>
          <a:stretch/>
        </p:blipFill>
        <p:spPr>
          <a:xfrm>
            <a:off x="1578275" y="2381500"/>
            <a:ext cx="4603325" cy="3241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17"/>
          <p:cNvPicPr preferRelativeResize="0"/>
          <p:nvPr/>
        </p:nvPicPr>
        <p:blipFill rotWithShape="1">
          <a:blip r:embed="rId8">
            <a:alphaModFix/>
          </a:blip>
          <a:srcRect t="6261"/>
          <a:stretch/>
        </p:blipFill>
        <p:spPr>
          <a:xfrm>
            <a:off x="6298275" y="5855163"/>
            <a:ext cx="4369975" cy="3241125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7"/>
          <p:cNvSpPr txBox="1"/>
          <p:nvPr/>
        </p:nvSpPr>
        <p:spPr>
          <a:xfrm>
            <a:off x="10854525" y="2639875"/>
            <a:ext cx="5519400" cy="58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For the top 50 most traded stocks, a heatmap can illustrate price performance trends over a selected year, where rows represent stocks, columns represent time intervals (e.g., months), and cell colors indicate relative price changes or returns.</a:t>
            </a:r>
            <a:endParaRPr sz="32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pic>
        <p:nvPicPr>
          <p:cNvPr id="4" name="Audio 3">
            <a:hlinkClick r:id="" action="ppaction://media"/>
            <a:extLst>
              <a:ext uri="{FF2B5EF4-FFF2-40B4-BE49-F238E27FC236}">
                <a16:creationId xmlns:a16="http://schemas.microsoft.com/office/drawing/2014/main" id="{901A0DFB-AD85-F9FC-D62D-8DD126DE5E3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9"/>
          <a:srcRect l="-266613" t="-266613" r="-266613" b="-266613"/>
          <a:stretch>
            <a:fillRect/>
          </a:stretch>
        </p:blipFill>
        <p:spPr>
          <a:xfrm>
            <a:off x="15078456" y="7077456"/>
            <a:ext cx="3086100" cy="3086100"/>
          </a:xfrm>
          <a:prstGeom prst="ellipse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270"/>
    </mc:Choice>
    <mc:Fallback xmlns="">
      <p:transition spd="slow" advTm="627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8"/>
          <p:cNvSpPr txBox="1"/>
          <p:nvPr/>
        </p:nvSpPr>
        <p:spPr>
          <a:xfrm>
            <a:off x="1371600" y="2270575"/>
            <a:ext cx="7748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91440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cxnSp>
        <p:nvCxnSpPr>
          <p:cNvPr id="145" name="Google Shape;145;p18"/>
          <p:cNvCxnSpPr/>
          <p:nvPr/>
        </p:nvCxnSpPr>
        <p:spPr>
          <a:xfrm rot="-5400000">
            <a:off x="11772900" y="5143438"/>
            <a:ext cx="10287000" cy="0"/>
          </a:xfrm>
          <a:prstGeom prst="straightConnector1">
            <a:avLst/>
          </a:prstGeom>
          <a:noFill/>
          <a:ln w="28575" cap="flat" cmpd="sng">
            <a:solidFill>
              <a:srgbClr val="CFC9B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46" name="Google Shape;146;p18"/>
          <p:cNvSpPr txBox="1"/>
          <p:nvPr/>
        </p:nvSpPr>
        <p:spPr>
          <a:xfrm>
            <a:off x="1371600" y="654301"/>
            <a:ext cx="15544800" cy="8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0"/>
              <a:buFont typeface="Arial"/>
              <a:buNone/>
            </a:pPr>
            <a:r>
              <a:rPr lang="en-US" sz="5500">
                <a:latin typeface="Montserrat ExtraBold"/>
                <a:ea typeface="Montserrat ExtraBold"/>
                <a:cs typeface="Montserrat ExtraBold"/>
                <a:sym typeface="Montserrat ExtraBold"/>
              </a:rPr>
              <a:t>P/E &amp; P/B Ratio</a:t>
            </a:r>
            <a:endParaRPr sz="5500" b="0" i="0" u="none" strike="noStrike" cap="none">
              <a:solidFill>
                <a:srgbClr val="000000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cxnSp>
        <p:nvCxnSpPr>
          <p:cNvPr id="147" name="Google Shape;147;p18"/>
          <p:cNvCxnSpPr/>
          <p:nvPr/>
        </p:nvCxnSpPr>
        <p:spPr>
          <a:xfrm>
            <a:off x="1371596" y="1519238"/>
            <a:ext cx="12966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48" name="Google Shape;148;p18"/>
          <p:cNvSpPr txBox="1"/>
          <p:nvPr/>
        </p:nvSpPr>
        <p:spPr>
          <a:xfrm>
            <a:off x="16908675" y="9459600"/>
            <a:ext cx="13776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>
                <a:latin typeface="Montserrat ExtraBold"/>
                <a:ea typeface="Montserrat ExtraBold"/>
                <a:cs typeface="Montserrat ExtraBold"/>
                <a:sym typeface="Montserrat ExtraBold"/>
              </a:rPr>
              <a:t>6</a:t>
            </a:r>
            <a:endParaRPr sz="1800" b="0" i="0" u="none" strike="noStrike" cap="none">
              <a:solidFill>
                <a:srgbClr val="000000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149" name="Google Shape;149;p18"/>
          <p:cNvSpPr txBox="1"/>
          <p:nvPr/>
        </p:nvSpPr>
        <p:spPr>
          <a:xfrm rot="5400000">
            <a:off x="13469925" y="4643250"/>
            <a:ext cx="82551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Alegreya Sans Medium"/>
                <a:ea typeface="Alegreya Sans Medium"/>
                <a:cs typeface="Alegreya Sans Medium"/>
                <a:sym typeface="Alegreya Sans Medium"/>
              </a:rPr>
              <a:t>Innoversite - The Universe  Of Innovation</a:t>
            </a:r>
            <a:endParaRPr sz="1800">
              <a:solidFill>
                <a:schemeClr val="dk1"/>
              </a:solidFill>
              <a:latin typeface="Alegreya Sans Medium"/>
              <a:ea typeface="Alegreya Sans Medium"/>
              <a:cs typeface="Alegreya Sans Medium"/>
              <a:sym typeface="Alegreya Sans Medium"/>
            </a:endParaRPr>
          </a:p>
        </p:txBody>
      </p:sp>
      <p:pic>
        <p:nvPicPr>
          <p:cNvPr id="150" name="Google Shape;150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406075" y="1635888"/>
            <a:ext cx="11475849" cy="4885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295900" y="6843938"/>
            <a:ext cx="7696200" cy="2524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Audio 3">
            <a:hlinkClick r:id="" action="ppaction://media"/>
            <a:extLst>
              <a:ext uri="{FF2B5EF4-FFF2-40B4-BE49-F238E27FC236}">
                <a16:creationId xmlns:a16="http://schemas.microsoft.com/office/drawing/2014/main" id="{0420E3FF-53D5-7AF6-39BF-3545B048DE1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rcRect l="-266613" t="-266613" r="-266613" b="-266613"/>
          <a:stretch>
            <a:fillRect/>
          </a:stretch>
        </p:blipFill>
        <p:spPr>
          <a:xfrm>
            <a:off x="15078456" y="7077456"/>
            <a:ext cx="3086100" cy="3086100"/>
          </a:xfrm>
          <a:prstGeom prst="ellipse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890"/>
    </mc:Choice>
    <mc:Fallback xmlns="">
      <p:transition spd="slow" advTm="489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9"/>
          <p:cNvSpPr txBox="1"/>
          <p:nvPr/>
        </p:nvSpPr>
        <p:spPr>
          <a:xfrm>
            <a:off x="1371600" y="2270575"/>
            <a:ext cx="7748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24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cxnSp>
        <p:nvCxnSpPr>
          <p:cNvPr id="157" name="Google Shape;157;p19"/>
          <p:cNvCxnSpPr/>
          <p:nvPr/>
        </p:nvCxnSpPr>
        <p:spPr>
          <a:xfrm rot="-5400000">
            <a:off x="11772900" y="5143438"/>
            <a:ext cx="10287000" cy="0"/>
          </a:xfrm>
          <a:prstGeom prst="straightConnector1">
            <a:avLst/>
          </a:prstGeom>
          <a:noFill/>
          <a:ln w="28575" cap="flat" cmpd="sng">
            <a:solidFill>
              <a:srgbClr val="CFC9B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58" name="Google Shape;158;p19"/>
          <p:cNvSpPr txBox="1"/>
          <p:nvPr/>
        </p:nvSpPr>
        <p:spPr>
          <a:xfrm>
            <a:off x="1371600" y="654301"/>
            <a:ext cx="15544800" cy="8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0"/>
              <a:buFont typeface="Arial"/>
              <a:buNone/>
            </a:pPr>
            <a:r>
              <a:rPr lang="en-US" sz="55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Comparative Stock Price Movement</a:t>
            </a:r>
            <a:endParaRPr sz="5500"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cxnSp>
        <p:nvCxnSpPr>
          <p:cNvPr id="159" name="Google Shape;159;p19"/>
          <p:cNvCxnSpPr/>
          <p:nvPr/>
        </p:nvCxnSpPr>
        <p:spPr>
          <a:xfrm>
            <a:off x="1371596" y="1519238"/>
            <a:ext cx="12966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60" name="Google Shape;160;p19"/>
          <p:cNvSpPr txBox="1"/>
          <p:nvPr/>
        </p:nvSpPr>
        <p:spPr>
          <a:xfrm>
            <a:off x="16908675" y="9459600"/>
            <a:ext cx="13776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>
                <a:latin typeface="Montserrat ExtraBold"/>
                <a:ea typeface="Montserrat ExtraBold"/>
                <a:cs typeface="Montserrat ExtraBold"/>
                <a:sym typeface="Montserrat ExtraBold"/>
              </a:rPr>
              <a:t>7</a:t>
            </a:r>
            <a:endParaRPr sz="1800" b="0" i="0" u="none" strike="noStrike" cap="none">
              <a:solidFill>
                <a:srgbClr val="000000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161" name="Google Shape;161;p19"/>
          <p:cNvSpPr txBox="1"/>
          <p:nvPr/>
        </p:nvSpPr>
        <p:spPr>
          <a:xfrm rot="5400000">
            <a:off x="13469925" y="4643250"/>
            <a:ext cx="82551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Alegreya Sans Medium"/>
                <a:ea typeface="Alegreya Sans Medium"/>
                <a:cs typeface="Alegreya Sans Medium"/>
                <a:sym typeface="Alegreya Sans Medium"/>
              </a:rPr>
              <a:t>Innoversite - The Universe  Of Innovation</a:t>
            </a:r>
            <a:endParaRPr sz="1800">
              <a:solidFill>
                <a:schemeClr val="dk1"/>
              </a:solidFill>
              <a:latin typeface="Alegreya Sans Medium"/>
              <a:ea typeface="Alegreya Sans Medium"/>
              <a:cs typeface="Alegreya Sans Medium"/>
              <a:sym typeface="Alegreya Sans Medium"/>
            </a:endParaRPr>
          </a:p>
        </p:txBody>
      </p:sp>
      <p:pic>
        <p:nvPicPr>
          <p:cNvPr id="162" name="Google Shape;162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67800" y="1776100"/>
            <a:ext cx="15206133" cy="6515751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9"/>
          <p:cNvSpPr txBox="1"/>
          <p:nvPr/>
        </p:nvSpPr>
        <p:spPr>
          <a:xfrm>
            <a:off x="1167800" y="8492700"/>
            <a:ext cx="15089400" cy="84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It is used to compare the growth of stocks within the given time frame.</a:t>
            </a:r>
            <a:endParaRPr sz="32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pic>
        <p:nvPicPr>
          <p:cNvPr id="4" name="Audio 3">
            <a:hlinkClick r:id="" action="ppaction://media"/>
            <a:extLst>
              <a:ext uri="{FF2B5EF4-FFF2-40B4-BE49-F238E27FC236}">
                <a16:creationId xmlns:a16="http://schemas.microsoft.com/office/drawing/2014/main" id="{B2DF791A-6C53-CC03-1C71-211EB0B11BC7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rcRect l="-266613" t="-266613" r="-266613" b="-266613"/>
          <a:stretch>
            <a:fillRect/>
          </a:stretch>
        </p:blipFill>
        <p:spPr>
          <a:xfrm>
            <a:off x="15078456" y="7077456"/>
            <a:ext cx="3086100" cy="3086100"/>
          </a:xfrm>
          <a:prstGeom prst="ellipse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848"/>
    </mc:Choice>
    <mc:Fallback xmlns="">
      <p:transition spd="slow" advTm="384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0"/>
          <p:cNvSpPr txBox="1"/>
          <p:nvPr/>
        </p:nvSpPr>
        <p:spPr>
          <a:xfrm>
            <a:off x="1371600" y="2270575"/>
            <a:ext cx="7748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24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cxnSp>
        <p:nvCxnSpPr>
          <p:cNvPr id="169" name="Google Shape;169;p20"/>
          <p:cNvCxnSpPr/>
          <p:nvPr/>
        </p:nvCxnSpPr>
        <p:spPr>
          <a:xfrm rot="-5400000">
            <a:off x="11772900" y="5143438"/>
            <a:ext cx="10287000" cy="0"/>
          </a:xfrm>
          <a:prstGeom prst="straightConnector1">
            <a:avLst/>
          </a:prstGeom>
          <a:noFill/>
          <a:ln w="28575" cap="flat" cmpd="sng">
            <a:solidFill>
              <a:srgbClr val="CFC9B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70" name="Google Shape;170;p20"/>
          <p:cNvSpPr txBox="1"/>
          <p:nvPr/>
        </p:nvSpPr>
        <p:spPr>
          <a:xfrm>
            <a:off x="1371600" y="654301"/>
            <a:ext cx="15544800" cy="8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0"/>
              <a:buFont typeface="Arial"/>
              <a:buNone/>
            </a:pPr>
            <a:r>
              <a:rPr lang="en-US" sz="5500">
                <a:latin typeface="Montserrat ExtraBold"/>
                <a:ea typeface="Montserrat ExtraBold"/>
                <a:cs typeface="Montserrat ExtraBold"/>
                <a:sym typeface="Montserrat ExtraBold"/>
              </a:rPr>
              <a:t>Sector Performance</a:t>
            </a:r>
            <a:endParaRPr sz="5500" b="0" i="0" u="none" strike="noStrike" cap="none">
              <a:solidFill>
                <a:srgbClr val="000000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cxnSp>
        <p:nvCxnSpPr>
          <p:cNvPr id="171" name="Google Shape;171;p20"/>
          <p:cNvCxnSpPr/>
          <p:nvPr/>
        </p:nvCxnSpPr>
        <p:spPr>
          <a:xfrm>
            <a:off x="1371596" y="1519238"/>
            <a:ext cx="12966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72" name="Google Shape;172;p20"/>
          <p:cNvSpPr txBox="1"/>
          <p:nvPr/>
        </p:nvSpPr>
        <p:spPr>
          <a:xfrm>
            <a:off x="16908675" y="9459600"/>
            <a:ext cx="13776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>
                <a:latin typeface="Montserrat ExtraBold"/>
                <a:ea typeface="Montserrat ExtraBold"/>
                <a:cs typeface="Montserrat ExtraBold"/>
                <a:sym typeface="Montserrat ExtraBold"/>
              </a:rPr>
              <a:t>8</a:t>
            </a:r>
            <a:endParaRPr sz="1800" b="0" i="0" u="none" strike="noStrike" cap="none">
              <a:solidFill>
                <a:srgbClr val="000000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173" name="Google Shape;173;p20"/>
          <p:cNvSpPr txBox="1"/>
          <p:nvPr/>
        </p:nvSpPr>
        <p:spPr>
          <a:xfrm rot="5400000">
            <a:off x="13469925" y="4643250"/>
            <a:ext cx="82551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Alegreya Sans Medium"/>
                <a:ea typeface="Alegreya Sans Medium"/>
                <a:cs typeface="Alegreya Sans Medium"/>
                <a:sym typeface="Alegreya Sans Medium"/>
              </a:rPr>
              <a:t>Innoversite - The Universe  Of Innovation</a:t>
            </a:r>
            <a:endParaRPr sz="1800">
              <a:solidFill>
                <a:schemeClr val="dk1"/>
              </a:solidFill>
              <a:latin typeface="Alegreya Sans Medium"/>
              <a:ea typeface="Alegreya Sans Medium"/>
              <a:cs typeface="Alegreya Sans Medium"/>
              <a:sym typeface="Alegreya Sans Medium"/>
            </a:endParaRPr>
          </a:p>
        </p:txBody>
      </p:sp>
      <p:pic>
        <p:nvPicPr>
          <p:cNvPr id="174" name="Google Shape;174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371600" y="2134650"/>
            <a:ext cx="11391900" cy="6638925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20"/>
          <p:cNvSpPr txBox="1"/>
          <p:nvPr/>
        </p:nvSpPr>
        <p:spPr>
          <a:xfrm>
            <a:off x="13313400" y="2668950"/>
            <a:ext cx="3053100" cy="4949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Here is the comparison Graph of different industries on the basis of financial data using security file.</a:t>
            </a:r>
            <a:endParaRPr sz="32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pic>
        <p:nvPicPr>
          <p:cNvPr id="4" name="Audio 3">
            <a:hlinkClick r:id="" action="ppaction://media"/>
            <a:extLst>
              <a:ext uri="{FF2B5EF4-FFF2-40B4-BE49-F238E27FC236}">
                <a16:creationId xmlns:a16="http://schemas.microsoft.com/office/drawing/2014/main" id="{F61B0F75-DBB1-0DCE-6B0D-AF667FFCFDF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rcRect l="-266613" t="-266613" r="-266613" b="-266613"/>
          <a:stretch>
            <a:fillRect/>
          </a:stretch>
        </p:blipFill>
        <p:spPr>
          <a:xfrm>
            <a:off x="15078456" y="7077456"/>
            <a:ext cx="3086100" cy="3086100"/>
          </a:xfrm>
          <a:prstGeom prst="ellipse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436"/>
    </mc:Choice>
    <mc:Fallback xmlns="">
      <p:transition spd="slow" advTm="343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1"/>
          <p:cNvSpPr txBox="1"/>
          <p:nvPr/>
        </p:nvSpPr>
        <p:spPr>
          <a:xfrm>
            <a:off x="1371600" y="2270575"/>
            <a:ext cx="7748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24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cxnSp>
        <p:nvCxnSpPr>
          <p:cNvPr id="181" name="Google Shape;181;p21"/>
          <p:cNvCxnSpPr/>
          <p:nvPr/>
        </p:nvCxnSpPr>
        <p:spPr>
          <a:xfrm rot="-5400000">
            <a:off x="11772900" y="5143438"/>
            <a:ext cx="10287000" cy="0"/>
          </a:xfrm>
          <a:prstGeom prst="straightConnector1">
            <a:avLst/>
          </a:prstGeom>
          <a:noFill/>
          <a:ln w="28575" cap="flat" cmpd="sng">
            <a:solidFill>
              <a:srgbClr val="CFC9B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82" name="Google Shape;182;p21"/>
          <p:cNvSpPr txBox="1"/>
          <p:nvPr/>
        </p:nvSpPr>
        <p:spPr>
          <a:xfrm>
            <a:off x="1371600" y="654301"/>
            <a:ext cx="15544800" cy="8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0"/>
              <a:buFont typeface="Arial"/>
              <a:buNone/>
            </a:pPr>
            <a:r>
              <a:rPr lang="en-US" sz="55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Profit Projection</a:t>
            </a:r>
            <a:endParaRPr sz="5500"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cxnSp>
        <p:nvCxnSpPr>
          <p:cNvPr id="183" name="Google Shape;183;p21"/>
          <p:cNvCxnSpPr/>
          <p:nvPr/>
        </p:nvCxnSpPr>
        <p:spPr>
          <a:xfrm>
            <a:off x="1371596" y="1519238"/>
            <a:ext cx="12966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84" name="Google Shape;184;p21"/>
          <p:cNvSpPr txBox="1"/>
          <p:nvPr/>
        </p:nvSpPr>
        <p:spPr>
          <a:xfrm>
            <a:off x="16908675" y="9459600"/>
            <a:ext cx="13776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>
                <a:latin typeface="Montserrat ExtraBold"/>
                <a:ea typeface="Montserrat ExtraBold"/>
                <a:cs typeface="Montserrat ExtraBold"/>
                <a:sym typeface="Montserrat ExtraBold"/>
              </a:rPr>
              <a:t>9</a:t>
            </a:r>
            <a:endParaRPr sz="1800" b="0" i="0" u="none" strike="noStrike" cap="none">
              <a:solidFill>
                <a:srgbClr val="000000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185" name="Google Shape;185;p21"/>
          <p:cNvSpPr txBox="1"/>
          <p:nvPr/>
        </p:nvSpPr>
        <p:spPr>
          <a:xfrm rot="5400000">
            <a:off x="13469925" y="4643250"/>
            <a:ext cx="82551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Alegreya Sans Medium"/>
                <a:ea typeface="Alegreya Sans Medium"/>
                <a:cs typeface="Alegreya Sans Medium"/>
                <a:sym typeface="Alegreya Sans Medium"/>
              </a:rPr>
              <a:t>Innoversite - The Universe  Of Innovation</a:t>
            </a:r>
            <a:endParaRPr sz="1800">
              <a:solidFill>
                <a:schemeClr val="dk1"/>
              </a:solidFill>
              <a:latin typeface="Alegreya Sans Medium"/>
              <a:ea typeface="Alegreya Sans Medium"/>
              <a:cs typeface="Alegreya Sans Medium"/>
              <a:sym typeface="Alegreya Sans Medium"/>
            </a:endParaRPr>
          </a:p>
        </p:txBody>
      </p:sp>
      <p:pic>
        <p:nvPicPr>
          <p:cNvPr id="186" name="Google Shape;186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225688" y="1864825"/>
            <a:ext cx="12937827" cy="5386699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21"/>
          <p:cNvSpPr txBox="1"/>
          <p:nvPr/>
        </p:nvSpPr>
        <p:spPr>
          <a:xfrm>
            <a:off x="1460863" y="7597100"/>
            <a:ext cx="14467500" cy="122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XGBRegressor is a regression model from the XGBoost (eXtreme Gradient Boosting) library, which is optimized for both performance and speed. </a:t>
            </a:r>
            <a:endParaRPr sz="32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pic>
        <p:nvPicPr>
          <p:cNvPr id="4" name="Audio 3">
            <a:hlinkClick r:id="" action="ppaction://media"/>
            <a:extLst>
              <a:ext uri="{FF2B5EF4-FFF2-40B4-BE49-F238E27FC236}">
                <a16:creationId xmlns:a16="http://schemas.microsoft.com/office/drawing/2014/main" id="{9B4A3C4F-5A4E-6B3F-48B7-90A283F81FF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rcRect l="-266613" t="-266613" r="-266613" b="-266613"/>
          <a:stretch>
            <a:fillRect/>
          </a:stretch>
        </p:blipFill>
        <p:spPr>
          <a:xfrm>
            <a:off x="15078456" y="7077456"/>
            <a:ext cx="3086100" cy="3086100"/>
          </a:xfrm>
          <a:prstGeom prst="ellipse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433"/>
    </mc:Choice>
    <mc:Fallback xmlns="">
      <p:transition spd="slow" advTm="443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2"/>
          <p:cNvSpPr txBox="1"/>
          <p:nvPr/>
        </p:nvSpPr>
        <p:spPr>
          <a:xfrm>
            <a:off x="1371600" y="2270575"/>
            <a:ext cx="7748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24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cxnSp>
        <p:nvCxnSpPr>
          <p:cNvPr id="193" name="Google Shape;193;p22"/>
          <p:cNvCxnSpPr/>
          <p:nvPr/>
        </p:nvCxnSpPr>
        <p:spPr>
          <a:xfrm rot="-5400000">
            <a:off x="11772900" y="5143438"/>
            <a:ext cx="10287000" cy="0"/>
          </a:xfrm>
          <a:prstGeom prst="straightConnector1">
            <a:avLst/>
          </a:prstGeom>
          <a:noFill/>
          <a:ln w="28575" cap="flat" cmpd="sng">
            <a:solidFill>
              <a:srgbClr val="CFC9B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94" name="Google Shape;194;p22"/>
          <p:cNvSpPr txBox="1"/>
          <p:nvPr/>
        </p:nvSpPr>
        <p:spPr>
          <a:xfrm>
            <a:off x="1371600" y="654301"/>
            <a:ext cx="15544800" cy="8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0"/>
              <a:buFont typeface="Arial"/>
              <a:buNone/>
            </a:pPr>
            <a:r>
              <a:rPr lang="en-US" sz="55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Challenges</a:t>
            </a:r>
            <a:endParaRPr sz="5500"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cxnSp>
        <p:nvCxnSpPr>
          <p:cNvPr id="195" name="Google Shape;195;p22"/>
          <p:cNvCxnSpPr/>
          <p:nvPr/>
        </p:nvCxnSpPr>
        <p:spPr>
          <a:xfrm>
            <a:off x="1371596" y="1519238"/>
            <a:ext cx="12966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96" name="Google Shape;196;p22"/>
          <p:cNvSpPr txBox="1"/>
          <p:nvPr/>
        </p:nvSpPr>
        <p:spPr>
          <a:xfrm>
            <a:off x="16908675" y="9459600"/>
            <a:ext cx="13776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>
                <a:latin typeface="Montserrat ExtraBold"/>
                <a:ea typeface="Montserrat ExtraBold"/>
                <a:cs typeface="Montserrat ExtraBold"/>
                <a:sym typeface="Montserrat ExtraBold"/>
              </a:rPr>
              <a:t>10</a:t>
            </a:r>
            <a:endParaRPr sz="1800" b="0" i="0" u="none" strike="noStrike" cap="none">
              <a:solidFill>
                <a:srgbClr val="000000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197" name="Google Shape;197;p22"/>
          <p:cNvSpPr txBox="1"/>
          <p:nvPr/>
        </p:nvSpPr>
        <p:spPr>
          <a:xfrm rot="5400000">
            <a:off x="13469925" y="4643250"/>
            <a:ext cx="82551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Alegreya Sans Medium"/>
                <a:ea typeface="Alegreya Sans Medium"/>
                <a:cs typeface="Alegreya Sans Medium"/>
                <a:sym typeface="Alegreya Sans Medium"/>
              </a:rPr>
              <a:t>Innoversite - The Universe  Of Innovation</a:t>
            </a:r>
            <a:endParaRPr sz="1800">
              <a:solidFill>
                <a:schemeClr val="dk1"/>
              </a:solidFill>
              <a:latin typeface="Alegreya Sans Medium"/>
              <a:ea typeface="Alegreya Sans Medium"/>
              <a:cs typeface="Alegreya Sans Medium"/>
              <a:sym typeface="Alegreya Sans Medium"/>
            </a:endParaRPr>
          </a:p>
        </p:txBody>
      </p:sp>
      <p:pic>
        <p:nvPicPr>
          <p:cNvPr id="198" name="Google Shape;198;p22"/>
          <p:cNvPicPr preferRelativeResize="0"/>
          <p:nvPr/>
        </p:nvPicPr>
        <p:blipFill rotWithShape="1">
          <a:blip r:embed="rId5">
            <a:alphaModFix/>
          </a:blip>
          <a:srcRect l="11480" r="11054"/>
          <a:stretch/>
        </p:blipFill>
        <p:spPr>
          <a:xfrm>
            <a:off x="1371600" y="1946800"/>
            <a:ext cx="7320100" cy="61418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22"/>
          <p:cNvPicPr preferRelativeResize="0"/>
          <p:nvPr/>
        </p:nvPicPr>
        <p:blipFill rotWithShape="1">
          <a:blip r:embed="rId6">
            <a:alphaModFix/>
          </a:blip>
          <a:srcRect l="4226" r="10913"/>
          <a:stretch/>
        </p:blipFill>
        <p:spPr>
          <a:xfrm>
            <a:off x="8931325" y="1946800"/>
            <a:ext cx="7320099" cy="6043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Audio 3">
            <a:hlinkClick r:id="" action="ppaction://media"/>
            <a:extLst>
              <a:ext uri="{FF2B5EF4-FFF2-40B4-BE49-F238E27FC236}">
                <a16:creationId xmlns:a16="http://schemas.microsoft.com/office/drawing/2014/main" id="{8BAF678B-182B-E348-B938-1616CF442FA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rcRect l="-266613" t="-266613" r="-266613" b="-266613"/>
          <a:stretch>
            <a:fillRect/>
          </a:stretch>
        </p:blipFill>
        <p:spPr>
          <a:xfrm>
            <a:off x="15078456" y="7077456"/>
            <a:ext cx="3086100" cy="3086100"/>
          </a:xfrm>
          <a:prstGeom prst="ellipse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57"/>
    </mc:Choice>
    <mc:Fallback xmlns="">
      <p:transition spd="slow" advTm="65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3"/>
          <p:cNvSpPr txBox="1"/>
          <p:nvPr/>
        </p:nvSpPr>
        <p:spPr>
          <a:xfrm>
            <a:off x="1371600" y="2270575"/>
            <a:ext cx="7748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24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cxnSp>
        <p:nvCxnSpPr>
          <p:cNvPr id="205" name="Google Shape;205;p23"/>
          <p:cNvCxnSpPr/>
          <p:nvPr/>
        </p:nvCxnSpPr>
        <p:spPr>
          <a:xfrm rot="-5400000">
            <a:off x="11772900" y="5143438"/>
            <a:ext cx="10287000" cy="0"/>
          </a:xfrm>
          <a:prstGeom prst="straightConnector1">
            <a:avLst/>
          </a:prstGeom>
          <a:noFill/>
          <a:ln w="28575" cap="flat" cmpd="sng">
            <a:solidFill>
              <a:srgbClr val="CFC9B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06" name="Google Shape;206;p23"/>
          <p:cNvSpPr txBox="1"/>
          <p:nvPr/>
        </p:nvSpPr>
        <p:spPr>
          <a:xfrm>
            <a:off x="1371600" y="654301"/>
            <a:ext cx="15544800" cy="8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0"/>
              <a:buFont typeface="Arial"/>
              <a:buNone/>
            </a:pPr>
            <a:r>
              <a:rPr lang="en-US" sz="55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Challenges</a:t>
            </a:r>
            <a:endParaRPr sz="5500"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cxnSp>
        <p:nvCxnSpPr>
          <p:cNvPr id="207" name="Google Shape;207;p23"/>
          <p:cNvCxnSpPr/>
          <p:nvPr/>
        </p:nvCxnSpPr>
        <p:spPr>
          <a:xfrm>
            <a:off x="1371596" y="1519238"/>
            <a:ext cx="12966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08" name="Google Shape;208;p23"/>
          <p:cNvSpPr txBox="1"/>
          <p:nvPr/>
        </p:nvSpPr>
        <p:spPr>
          <a:xfrm>
            <a:off x="16908675" y="9459600"/>
            <a:ext cx="13776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>
                <a:latin typeface="Montserrat ExtraBold"/>
                <a:ea typeface="Montserrat ExtraBold"/>
                <a:cs typeface="Montserrat ExtraBold"/>
                <a:sym typeface="Montserrat ExtraBold"/>
              </a:rPr>
              <a:t>11</a:t>
            </a:r>
            <a:endParaRPr sz="1800" b="0" i="0" u="none" strike="noStrike" cap="none">
              <a:solidFill>
                <a:srgbClr val="000000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209" name="Google Shape;209;p23"/>
          <p:cNvSpPr txBox="1"/>
          <p:nvPr/>
        </p:nvSpPr>
        <p:spPr>
          <a:xfrm rot="5400000">
            <a:off x="13469925" y="4643250"/>
            <a:ext cx="82551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Alegreya Sans Medium"/>
                <a:ea typeface="Alegreya Sans Medium"/>
                <a:cs typeface="Alegreya Sans Medium"/>
                <a:sym typeface="Alegreya Sans Medium"/>
              </a:rPr>
              <a:t>Innoversite - The Universe  Of Innovation</a:t>
            </a:r>
            <a:endParaRPr sz="1800">
              <a:solidFill>
                <a:schemeClr val="dk1"/>
              </a:solidFill>
              <a:latin typeface="Alegreya Sans Medium"/>
              <a:ea typeface="Alegreya Sans Medium"/>
              <a:cs typeface="Alegreya Sans Medium"/>
              <a:sym typeface="Alegreya Sans Medium"/>
            </a:endParaRPr>
          </a:p>
        </p:txBody>
      </p:sp>
      <p:pic>
        <p:nvPicPr>
          <p:cNvPr id="210" name="Google Shape;210;p23"/>
          <p:cNvPicPr preferRelativeResize="0"/>
          <p:nvPr/>
        </p:nvPicPr>
        <p:blipFill rotWithShape="1">
          <a:blip r:embed="rId5">
            <a:alphaModFix/>
          </a:blip>
          <a:srcRect l="4629" r="4420"/>
          <a:stretch/>
        </p:blipFill>
        <p:spPr>
          <a:xfrm>
            <a:off x="1371600" y="1829350"/>
            <a:ext cx="9558924" cy="7342325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3"/>
          <p:cNvSpPr txBox="1"/>
          <p:nvPr/>
        </p:nvSpPr>
        <p:spPr>
          <a:xfrm>
            <a:off x="11479363" y="2412013"/>
            <a:ext cx="4888200" cy="61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431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ontserrat SemiBold"/>
              <a:buChar char="●"/>
            </a:pPr>
            <a:r>
              <a:rPr lang="en-US" sz="32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Connecting the backend logic in Flask.</a:t>
            </a:r>
            <a:endParaRPr sz="32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marL="457200" lvl="0" indent="-431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ontserrat SemiBold"/>
              <a:buChar char="●"/>
            </a:pPr>
            <a:r>
              <a:rPr lang="en-US" sz="32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It was difficult to make the dashboard update dynamically.</a:t>
            </a:r>
            <a:endParaRPr sz="32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marL="457200" lvl="0" indent="-431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ontserrat SemiBold"/>
              <a:buChar char="●"/>
            </a:pPr>
            <a:r>
              <a:rPr lang="en-US" sz="32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Setting up the Flask application on our server was complicated.</a:t>
            </a:r>
            <a:endParaRPr sz="32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marL="457200" lvl="0" indent="-431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ontserrat SemiBold"/>
              <a:buChar char="●"/>
            </a:pPr>
            <a:r>
              <a:rPr lang="en-US" sz="32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Time Constraint.</a:t>
            </a:r>
            <a:endParaRPr sz="32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pic>
        <p:nvPicPr>
          <p:cNvPr id="4" name="Audio 3">
            <a:hlinkClick r:id="" action="ppaction://media"/>
            <a:extLst>
              <a:ext uri="{FF2B5EF4-FFF2-40B4-BE49-F238E27FC236}">
                <a16:creationId xmlns:a16="http://schemas.microsoft.com/office/drawing/2014/main" id="{EFA7AED3-1879-984A-73D3-00A5E7D9599B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rcRect l="-266613" t="-266613" r="-266613" b="-266613"/>
          <a:stretch>
            <a:fillRect/>
          </a:stretch>
        </p:blipFill>
        <p:spPr>
          <a:xfrm>
            <a:off x="15078456" y="7077456"/>
            <a:ext cx="3086100" cy="3086100"/>
          </a:xfrm>
          <a:prstGeom prst="ellipse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561"/>
    </mc:Choice>
    <mc:Fallback xmlns="">
      <p:transition spd="slow" advTm="1056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4"/>
          <p:cNvSpPr txBox="1"/>
          <p:nvPr/>
        </p:nvSpPr>
        <p:spPr>
          <a:xfrm>
            <a:off x="1877325" y="2495850"/>
            <a:ext cx="14567700" cy="5295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99"/>
              <a:buFont typeface="Arial"/>
              <a:buNone/>
            </a:pPr>
            <a:r>
              <a:rPr lang="en-US" sz="1000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Thank </a:t>
            </a:r>
            <a:r>
              <a:rPr lang="en-US" sz="10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Y</a:t>
            </a:r>
            <a:r>
              <a:rPr lang="en-US" sz="1000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ou</a:t>
            </a:r>
            <a:r>
              <a:rPr lang="en-US" sz="100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 </a:t>
            </a:r>
            <a:br>
              <a:rPr lang="en-US" sz="100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</a:br>
            <a:r>
              <a:rPr lang="en-US" sz="120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BNP PARIBAS</a:t>
            </a:r>
            <a:br>
              <a:rPr lang="en-US" sz="100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</a:br>
            <a:r>
              <a:rPr lang="en-US" sz="8000" i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for this Opportunity!</a:t>
            </a:r>
            <a:endParaRPr sz="8000" i="1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" name="Audio 3">
            <a:hlinkClick r:id="" action="ppaction://media"/>
            <a:extLst>
              <a:ext uri="{FF2B5EF4-FFF2-40B4-BE49-F238E27FC236}">
                <a16:creationId xmlns:a16="http://schemas.microsoft.com/office/drawing/2014/main" id="{AA179248-A91D-028C-E377-8210E947410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-266613" t="-266613" r="-266613" b="-266613"/>
          <a:stretch>
            <a:fillRect/>
          </a:stretch>
        </p:blipFill>
        <p:spPr>
          <a:xfrm>
            <a:off x="15078456" y="7077456"/>
            <a:ext cx="3086100" cy="3086100"/>
          </a:xfrm>
          <a:prstGeom prst="ellipse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100"/>
    </mc:Choice>
    <mc:Fallback xmlns="">
      <p:transition spd="slow" advTm="21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1933</TotalTime>
  <Words>291</Words>
  <Application>Microsoft Office PowerPoint</Application>
  <PresentationFormat>Custom</PresentationFormat>
  <Paragraphs>48</Paragraphs>
  <Slides>12</Slides>
  <Notes>12</Notes>
  <HiddenSlides>0</HiddenSlides>
  <MMClips>12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1" baseType="lpstr">
      <vt:lpstr>Arial</vt:lpstr>
      <vt:lpstr>Montserrat ExtraBold</vt:lpstr>
      <vt:lpstr>Alegreya Sans Medium</vt:lpstr>
      <vt:lpstr>Calibri</vt:lpstr>
      <vt:lpstr>Montserrat Medium</vt:lpstr>
      <vt:lpstr>Montserrat</vt:lpstr>
      <vt:lpstr>Montserrat Black</vt:lpstr>
      <vt:lpstr>Montserrat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Arthik Rajput</cp:lastModifiedBy>
  <cp:revision>3</cp:revision>
  <dcterms:modified xsi:type="dcterms:W3CDTF">2025-01-13T13:03:29Z</dcterms:modified>
</cp:coreProperties>
</file>